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80" r:id="rId3"/>
    <p:sldId id="273" r:id="rId4"/>
    <p:sldId id="283" r:id="rId5"/>
    <p:sldId id="258" r:id="rId6"/>
    <p:sldId id="259" r:id="rId7"/>
    <p:sldId id="260" r:id="rId8"/>
    <p:sldId id="269" r:id="rId9"/>
    <p:sldId id="270" r:id="rId10"/>
    <p:sldId id="281" r:id="rId11"/>
    <p:sldId id="262" r:id="rId12"/>
    <p:sldId id="271" r:id="rId13"/>
    <p:sldId id="263" r:id="rId14"/>
    <p:sldId id="277" r:id="rId15"/>
    <p:sldId id="279" r:id="rId16"/>
    <p:sldId id="266" r:id="rId17"/>
    <p:sldId id="278" r:id="rId18"/>
  </p:sldIdLst>
  <p:sldSz cx="12192000" cy="6858000"/>
  <p:notesSz cx="6858000" cy="9144000"/>
  <p:embeddedFontLst>
    <p:embeddedFont>
      <p:font typeface="Arial Rounded MT Bold" panose="020F0704030504030204" pitchFamily="34" charset="0"/>
      <p:regular r:id="rId20"/>
    </p:embeddedFont>
    <p:embeddedFont>
      <p:font typeface="Bookman Old Style" panose="02050604050505020204" pitchFamily="18" charset="0"/>
      <p:regular r:id="rId21"/>
      <p:bold r:id="rId22"/>
      <p:italic r:id="rId23"/>
      <p:boldItalic r:id="rId24"/>
    </p:embeddedFont>
    <p:embeddedFont>
      <p:font typeface="Elephant" panose="02020904090505020303" pitchFamily="18" charset="0"/>
      <p:regular r:id="rId25"/>
      <p:italic r:id="rId26"/>
    </p:embeddedFont>
    <p:embeddedFont>
      <p:font typeface="Inter" panose="020B0604020202020204" charset="0"/>
      <p:regular r:id="rId27"/>
      <p:bold r:id="rId28"/>
      <p:italic r:id="rId29"/>
      <p:boldItalic r:id="rId30"/>
    </p:embeddedFont>
    <p:embeddedFont>
      <p:font typeface="Inter SemiBold" panose="020B0604020202020204" charset="0"/>
      <p:regular r:id="rId31"/>
      <p:bold r:id="rId32"/>
      <p:italic r:id="rId33"/>
      <p:boldItalic r:id="rId34"/>
    </p:embeddedFont>
    <p:embeddedFont>
      <p:font typeface="Outfit" panose="020B0604020202020204" charset="0"/>
      <p:regular r:id="rId35"/>
      <p:bold r:id="rId36"/>
    </p:embeddedFont>
    <p:embeddedFont>
      <p:font typeface="Outfit ExtraBold" panose="020B0604020202020204" charset="0"/>
      <p:bold r:id="rId37"/>
    </p:embeddedFont>
    <p:embeddedFont>
      <p:font typeface="Outfit SemiBold" panose="020B0604020202020204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6DE9F-9896-4128-A17E-5E26F5F44993}" v="101" dt="2026-02-22T05:28:29.943"/>
    <p1510:client id="{2E5D16C7-4CC5-47C2-942E-00F74184DE03}" v="844" dt="2026-02-21T03:22:31.992"/>
    <p1510:client id="{3D9F3590-EC6D-AA5F-976A-75B6CEEE54CE}" v="7" dt="2026-02-20T18:09:10.034"/>
    <p1510:client id="{4D58C591-E6E3-4EF5-BF6C-853AE1052FFB}" v="168" dt="2026-02-21T10:53:12.088"/>
    <p1510:client id="{5268FEEB-E8D3-0AD4-5D07-6F1DE79E3133}" v="14" dt="2026-02-20T17:58:16.995"/>
    <p1510:client id="{95E4A3F7-1E7D-E6F9-2E53-436952628D90}" v="3" dt="2026-02-21T03:24:53.898"/>
    <p1510:client id="{9A4528A6-323E-48F7-82FA-4DF6F84994DB}" v="429" dt="2026-02-20T18:20:41.273"/>
    <p1510:client id="{FCDABD61-02CA-484C-BDBA-FEB9743192F9}" v="369" dt="2026-02-22T09:10:12.4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-1256" y="-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500">
                <a:solidFill>
                  <a:srgbClr val="888888"/>
                </a:solidFill>
              </a:defRPr>
            </a:lvl1pPr>
            <a:lvl2pPr marL="685800" lvl="1" indent="-17145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350">
                <a:solidFill>
                  <a:srgbClr val="888888"/>
                </a:solidFill>
              </a:defRPr>
            </a:lvl2pPr>
            <a:lvl3pPr marL="1028700" lvl="2" indent="-17145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3pPr>
            <a:lvl4pPr marL="1371600" lvl="3" indent="-17145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050">
                <a:solidFill>
                  <a:srgbClr val="888888"/>
                </a:solidFill>
              </a:defRPr>
            </a:lvl4pPr>
            <a:lvl5pPr marL="1714500" lvl="4" indent="-17145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050">
                <a:solidFill>
                  <a:srgbClr val="888888"/>
                </a:solidFill>
              </a:defRPr>
            </a:lvl5pPr>
            <a:lvl6pPr marL="2057400" lvl="5" indent="-17145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050">
                <a:solidFill>
                  <a:srgbClr val="888888"/>
                </a:solidFill>
              </a:defRPr>
            </a:lvl6pPr>
            <a:lvl7pPr marL="2400300" lvl="6" indent="-17145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050">
                <a:solidFill>
                  <a:srgbClr val="888888"/>
                </a:solidFill>
              </a:defRPr>
            </a:lvl7pPr>
            <a:lvl8pPr marL="2743200" lvl="7" indent="-17145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050">
                <a:solidFill>
                  <a:srgbClr val="888888"/>
                </a:solidFill>
              </a:defRPr>
            </a:lvl8pPr>
            <a:lvl9pPr marL="3086100" lvl="8" indent="-17145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1pPr>
            <a:lvl2pPr marL="685800" lvl="1" indent="-2857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800"/>
            </a:lvl2pPr>
            <a:lvl3pPr marL="1028700" lvl="2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350"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350"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1pPr>
            <a:lvl2pPr marL="685800" lvl="1" indent="-2857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800"/>
            </a:lvl2pPr>
            <a:lvl3pPr marL="1028700" lvl="2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350"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350"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1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857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1pPr>
            <a:lvl2pPr marL="685800" lvl="1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500"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200"/>
            </a:lvl4pPr>
            <a:lvl5pPr marL="1714500" lvl="4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200"/>
            </a:lvl5pPr>
            <a:lvl6pPr marL="2057400" lvl="5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2400300" lvl="6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2743200" lvl="7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3086100" lvl="8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857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1pPr>
            <a:lvl2pPr marL="685800" lvl="1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500"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200"/>
            </a:lvl4pPr>
            <a:lvl5pPr marL="1714500" lvl="4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200"/>
            </a:lvl5pPr>
            <a:lvl6pPr marL="2057400" lvl="5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2400300" lvl="6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2743200" lvl="7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3086100" lvl="8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400"/>
            </a:lvl1pPr>
            <a:lvl2pPr marL="685800" lvl="1" indent="-30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100"/>
            </a:lvl2pPr>
            <a:lvl3pPr marL="1028700" lvl="2" indent="-2857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3pPr>
            <a:lvl4pPr marL="1371600" lvl="3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500"/>
            </a:lvl4pPr>
            <a:lvl5pPr marL="1714500" lvl="4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1500"/>
            </a:lvl5pPr>
            <a:lvl6pPr marL="2057400" lvl="5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300" lvl="6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200" lvl="7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100" lvl="8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1pPr>
            <a:lvl2pPr marL="685800" lvl="1" indent="-1714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2pPr>
            <a:lvl3pPr marL="1028700" lvl="2" indent="-17145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3pPr>
            <a:lvl4pPr marL="1371600" lvl="3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4pPr>
            <a:lvl5pPr marL="1714500" lvl="4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5pPr>
            <a:lvl6pPr marL="2057400" lvl="5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6pPr>
            <a:lvl7pPr marL="2400300" lvl="6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7pPr>
            <a:lvl8pPr marL="2743200" lvl="7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8pPr>
            <a:lvl9pPr marL="3086100" lvl="8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1pPr>
            <a:lvl2pPr marL="685800" lvl="1" indent="-1714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2pPr>
            <a:lvl3pPr marL="1028700" lvl="2" indent="-17145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3pPr>
            <a:lvl4pPr marL="1371600" lvl="3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4pPr>
            <a:lvl5pPr marL="1714500" lvl="4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5pPr>
            <a:lvl6pPr marL="2057400" lvl="5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6pPr>
            <a:lvl7pPr marL="2400300" lvl="6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7pPr>
            <a:lvl8pPr marL="2743200" lvl="7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8pPr>
            <a:lvl9pPr marL="3086100" lvl="8" indent="-17145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20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9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9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-1731"/>
            <a:ext cx="12191998" cy="6861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7400" y="239750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745456" y="2997586"/>
            <a:ext cx="8701088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4500">
                <a:solidFill>
                  <a:srgbClr val="F8FAFC"/>
                </a:solidFill>
                <a:latin typeface="Outfit ExtraBold"/>
              </a:rPr>
              <a:t>CROP PRICE PREDICTOR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3238500" y="3769111"/>
            <a:ext cx="5715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AI-Powered Forecasting for Agricultural Markets.</a:t>
            </a:r>
            <a:b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Predicting Avg Min &amp; Max Prices with Prophet &amp; Streamlit.</a:t>
            </a:r>
            <a:endParaRPr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8CBCD-7989-65B4-0813-D6410C0E3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7948" y="1013386"/>
            <a:ext cx="8709451" cy="464145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GB" sz="3000" dirty="0">
                <a:solidFill>
                  <a:srgbClr val="7030A0"/>
                </a:solidFill>
                <a:latin typeface="Franklin Gothic"/>
              </a:rPr>
              <a:t>          </a:t>
            </a:r>
            <a:br>
              <a:rPr lang="en-GB" sz="3000" dirty="0">
                <a:solidFill>
                  <a:srgbClr val="7030A0"/>
                </a:solidFill>
                <a:latin typeface="Franklin Gothic"/>
              </a:rPr>
            </a:br>
            <a:br>
              <a:rPr lang="en-GB" sz="3000" dirty="0">
                <a:solidFill>
                  <a:srgbClr val="7030A0"/>
                </a:solidFill>
                <a:latin typeface="Franklin Gothic"/>
              </a:rPr>
            </a:br>
            <a:br>
              <a:rPr lang="en-GB" sz="3000" dirty="0">
                <a:solidFill>
                  <a:srgbClr val="7030A0"/>
                </a:solidFill>
                <a:latin typeface="Franklin Gothic"/>
              </a:rPr>
            </a:br>
            <a:br>
              <a:rPr lang="en-GB" sz="3000" dirty="0">
                <a:latin typeface="Franklin Gothic"/>
              </a:rPr>
            </a:br>
            <a:r>
              <a:rPr lang="en-GB" sz="3000" dirty="0">
                <a:solidFill>
                  <a:srgbClr val="7030A0"/>
                </a:solidFill>
                <a:latin typeface="Franklin Gothic"/>
              </a:rPr>
              <a:t>                </a:t>
            </a:r>
            <a:br>
              <a:rPr lang="en-GB" sz="3000" dirty="0">
                <a:solidFill>
                  <a:srgbClr val="7030A0"/>
                </a:solidFill>
                <a:latin typeface="Franklin Gothic"/>
              </a:rPr>
            </a:br>
            <a:r>
              <a:rPr lang="en-GB" sz="3000" dirty="0">
                <a:solidFill>
                  <a:srgbClr val="7030A0"/>
                </a:solidFill>
                <a:latin typeface="Franklin Gothic"/>
              </a:rPr>
              <a:t>           </a:t>
            </a:r>
            <a:br>
              <a:rPr lang="en-GB" sz="3000" dirty="0">
                <a:solidFill>
                  <a:srgbClr val="7030A0"/>
                </a:solidFill>
                <a:latin typeface="Franklin Gothic"/>
              </a:rPr>
            </a:br>
            <a:r>
              <a:rPr lang="en-GB" sz="3000" dirty="0">
                <a:solidFill>
                  <a:srgbClr val="FF0000"/>
                </a:solidFill>
                <a:latin typeface="Elephant"/>
              </a:rPr>
              <a:t>HACKANOVATION 2.0  </a:t>
            </a:r>
            <a:br>
              <a:rPr lang="en-GB" sz="3000" dirty="0">
                <a:solidFill>
                  <a:srgbClr val="7030A0"/>
                </a:solidFill>
                <a:latin typeface="Franklin Gothic"/>
              </a:rPr>
            </a:br>
            <a:r>
              <a:rPr lang="en-GB" sz="3000" dirty="0">
                <a:solidFill>
                  <a:srgbClr val="7030A0"/>
                </a:solidFill>
                <a:latin typeface="Franklin Gothic"/>
              </a:rPr>
              <a:t>            GANDHI INSTITUTE OF ENGINEERING AND                                               TECHNOLOGY UNIVERSITY</a:t>
            </a:r>
            <a:br>
              <a:rPr lang="en-GB" sz="3000" dirty="0">
                <a:solidFill>
                  <a:srgbClr val="7030A0"/>
                </a:solidFill>
                <a:latin typeface="Franklin Gothic"/>
              </a:rPr>
            </a:br>
            <a:r>
              <a:rPr lang="en-GB" sz="3000" dirty="0">
                <a:solidFill>
                  <a:srgbClr val="7030A0"/>
                </a:solidFill>
                <a:latin typeface="Franklin Gothic"/>
              </a:rPr>
              <a:t>         Team </a:t>
            </a:r>
            <a:r>
              <a:rPr lang="en-GB" sz="2400" dirty="0" err="1">
                <a:solidFill>
                  <a:srgbClr val="7030A0"/>
                </a:solidFill>
                <a:latin typeface="Franklin Gothic"/>
              </a:rPr>
              <a:t>Name:TENSOR</a:t>
            </a:r>
            <a:br>
              <a:rPr lang="en-GB" sz="2400" dirty="0">
                <a:latin typeface="Franklin Gothic"/>
              </a:rPr>
            </a:br>
            <a:r>
              <a:rPr lang="en-GB" sz="2400" dirty="0">
                <a:solidFill>
                  <a:srgbClr val="7030A0"/>
                </a:solidFill>
                <a:latin typeface="Franklin Gothic"/>
              </a:rPr>
              <a:t>                                  Pid: PS-HK16</a:t>
            </a:r>
            <a:br>
              <a:rPr lang="en-GB" sz="2400" dirty="0">
                <a:latin typeface="Franklin Gothic"/>
              </a:rPr>
            </a:br>
            <a:r>
              <a:rPr lang="en-GB" sz="3000" dirty="0">
                <a:solidFill>
                  <a:srgbClr val="C00000"/>
                </a:solidFill>
                <a:latin typeface="Franklin Gothic"/>
              </a:rPr>
              <a:t>AI-Based Post-Harvest Loss Reduction &amp;Crop Planning Intelligence System</a:t>
            </a:r>
            <a:br>
              <a:rPr lang="en-GB" sz="3000" dirty="0">
                <a:solidFill>
                  <a:srgbClr val="C00000"/>
                </a:solidFill>
                <a:latin typeface="Franklin Gothic"/>
              </a:rPr>
            </a:br>
            <a:r>
              <a:rPr lang="en-GB" sz="3000" dirty="0">
                <a:solidFill>
                  <a:srgbClr val="C00000"/>
                </a:solidFill>
                <a:latin typeface="Franklin Gothic"/>
              </a:rPr>
              <a:t>                                         </a:t>
            </a:r>
            <a:r>
              <a:rPr lang="en-GB" sz="2100" dirty="0">
                <a:solidFill>
                  <a:schemeClr val="accent1">
                    <a:lumMod val="49000"/>
                  </a:schemeClr>
                </a:solidFill>
                <a:latin typeface="Franklin Gothic"/>
              </a:rPr>
              <a:t>Team Members:</a:t>
            </a:r>
            <a:r>
              <a:rPr lang="en-GB" sz="3000" dirty="0">
                <a:solidFill>
                  <a:srgbClr val="C00000"/>
                </a:solidFill>
                <a:latin typeface="Franklin Gothic"/>
              </a:rPr>
              <a:t>   </a:t>
            </a:r>
            <a:br>
              <a:rPr lang="en-GB" sz="3000" dirty="0">
                <a:solidFill>
                  <a:srgbClr val="C00000"/>
                </a:solidFill>
                <a:latin typeface="Franklin Gothic"/>
              </a:rPr>
            </a:br>
            <a:r>
              <a:rPr lang="en-GB" sz="3000" dirty="0">
                <a:solidFill>
                  <a:srgbClr val="C00000"/>
                </a:solidFill>
                <a:latin typeface="Franklin Gothic"/>
              </a:rPr>
              <a:t>                                          </a:t>
            </a:r>
            <a:r>
              <a:rPr lang="en-GB" sz="1800" dirty="0">
                <a:solidFill>
                  <a:srgbClr val="C00000"/>
                </a:solidFill>
                <a:latin typeface="Franklin Gothic"/>
              </a:rPr>
              <a:t>Ishan Mishra(25CSE005)</a:t>
            </a:r>
            <a:br>
              <a:rPr lang="en-GB" sz="1800" dirty="0">
                <a:solidFill>
                  <a:srgbClr val="C00000"/>
                </a:solidFill>
                <a:latin typeface="Franklin Gothic"/>
              </a:rPr>
            </a:br>
            <a:r>
              <a:rPr lang="en-GB" sz="1800" dirty="0">
                <a:solidFill>
                  <a:srgbClr val="C00000"/>
                </a:solidFill>
                <a:latin typeface="Franklin Gothic"/>
              </a:rPr>
              <a:t>                                                                    Deepak Kumar Mishra(25CSE164)</a:t>
            </a:r>
            <a:br>
              <a:rPr lang="en-GB" sz="1800" dirty="0">
                <a:solidFill>
                  <a:srgbClr val="C00000"/>
                </a:solidFill>
                <a:latin typeface="Franklin Gothic"/>
              </a:rPr>
            </a:br>
            <a:r>
              <a:rPr lang="en-GB" sz="1800" dirty="0">
                <a:solidFill>
                  <a:srgbClr val="C00000"/>
                </a:solidFill>
                <a:latin typeface="Franklin Gothic"/>
              </a:rPr>
              <a:t>                                                                    Abhishek Sadangi</a:t>
            </a:r>
            <a:r>
              <a:rPr lang="en-GB" sz="1800">
                <a:solidFill>
                  <a:srgbClr val="C00000"/>
                </a:solidFill>
                <a:latin typeface="Franklin Gothic"/>
              </a:rPr>
              <a:t>(25CSE00S6)</a:t>
            </a:r>
            <a:br>
              <a:rPr lang="en-GB" sz="1800" dirty="0">
                <a:solidFill>
                  <a:srgbClr val="C00000"/>
                </a:solidFill>
                <a:latin typeface="Franklin Gothic"/>
              </a:rPr>
            </a:br>
            <a:r>
              <a:rPr lang="en-GB" sz="1800" dirty="0">
                <a:solidFill>
                  <a:srgbClr val="C00000"/>
                </a:solidFill>
                <a:latin typeface="Franklin Gothic"/>
              </a:rPr>
              <a:t>                                                                    Sriya Dash(25CSEAIML334)</a:t>
            </a:r>
            <a:br>
              <a:rPr lang="en-GB" sz="1800" dirty="0">
                <a:solidFill>
                  <a:srgbClr val="C00000"/>
                </a:solidFill>
                <a:latin typeface="Franklin Gothic"/>
              </a:rPr>
            </a:br>
            <a:r>
              <a:rPr lang="en-GB" sz="3000" dirty="0">
                <a:solidFill>
                  <a:srgbClr val="C00000"/>
                </a:solidFill>
                <a:latin typeface="Franklin Gothic"/>
              </a:rPr>
              <a:t>                                         </a:t>
            </a:r>
            <a:r>
              <a:rPr lang="en-GB" sz="1800" dirty="0">
                <a:solidFill>
                  <a:srgbClr val="C00000"/>
                </a:solidFill>
                <a:latin typeface="Franklin Gothic"/>
              </a:rPr>
              <a:t> </a:t>
            </a:r>
            <a:br>
              <a:rPr lang="en-GB" sz="1800" dirty="0">
                <a:latin typeface="Franklin Gothic"/>
              </a:rPr>
            </a:br>
            <a:br>
              <a:rPr lang="en-GB" sz="3000" dirty="0">
                <a:latin typeface="Franklin Gothic"/>
              </a:rPr>
            </a:br>
            <a:r>
              <a:rPr lang="en-GB" sz="3000" dirty="0">
                <a:solidFill>
                  <a:srgbClr val="C00000"/>
                </a:solidFill>
                <a:latin typeface="Franklin Gothic"/>
              </a:rPr>
              <a:t>                                           </a:t>
            </a:r>
            <a:br>
              <a:rPr lang="en-GB" sz="1800" dirty="0">
                <a:solidFill>
                  <a:srgbClr val="C00000"/>
                </a:solidFill>
                <a:latin typeface="Franklin Gothic"/>
              </a:rPr>
            </a:br>
            <a:r>
              <a:rPr lang="en-GB" sz="1800" dirty="0">
                <a:solidFill>
                  <a:srgbClr val="C00000"/>
                </a:solidFill>
                <a:latin typeface="Franklin Gothic"/>
              </a:rPr>
              <a:t>                                                          </a:t>
            </a:r>
            <a:br>
              <a:rPr lang="en-GB" sz="1800" dirty="0">
                <a:latin typeface="Franklin Gothic"/>
              </a:rPr>
            </a:br>
            <a:r>
              <a:rPr lang="en-GB" sz="3000" dirty="0">
                <a:solidFill>
                  <a:srgbClr val="C00000"/>
                </a:solidFill>
                <a:latin typeface="Franklin Gothic"/>
              </a:rPr>
              <a:t>                                      </a:t>
            </a:r>
            <a:br>
              <a:rPr lang="en-GB" sz="3000" dirty="0">
                <a:latin typeface="Franklin Gothic"/>
              </a:rPr>
            </a:br>
            <a:endParaRPr lang="en-GB" sz="3000" dirty="0">
              <a:solidFill>
                <a:srgbClr val="C00000"/>
              </a:solidFill>
              <a:latin typeface="Franklin Gothic"/>
            </a:endParaRPr>
          </a:p>
        </p:txBody>
      </p:sp>
      <p:sp>
        <p:nvSpPr>
          <p:cNvPr id="3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7202" y="2915660"/>
            <a:ext cx="104279" cy="104279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50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85" y="3087630"/>
            <a:ext cx="68354" cy="68354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50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5548" y="3255950"/>
            <a:ext cx="95785" cy="95785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50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99947" y="3479492"/>
            <a:ext cx="0" cy="25146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of a university&#10;&#10;AI-generated content may be incorrect.">
            <a:extLst>
              <a:ext uri="{FF2B5EF4-FFF2-40B4-BE49-F238E27FC236}">
                <a16:creationId xmlns:a16="http://schemas.microsoft.com/office/drawing/2014/main" id="{62113E3D-A039-F734-3D7B-69B8F247C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999562"/>
            <a:ext cx="1578644" cy="1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68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000" y="3329259"/>
            <a:ext cx="9144000" cy="2671492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50"/>
              </a:p>
            </p:txBody>
          </p:sp>
          <p:sp>
            <p:nvSpPr>
              <p:cNvPr id="22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50"/>
              </a:p>
            </p:txBody>
          </p:sp>
          <p:sp>
            <p:nvSpPr>
              <p:cNvPr id="2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CC4CD10-A2C7-34B5-E08D-412960F22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4976" y="1371600"/>
            <a:ext cx="8658224" cy="2057400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solidFill>
                  <a:srgbClr val="C00000"/>
                </a:solidFill>
                <a:latin typeface="Elephant"/>
              </a:rPr>
              <a:t>            </a:t>
            </a:r>
            <a:r>
              <a:rPr lang="en-GB" sz="4000" dirty="0">
                <a:solidFill>
                  <a:srgbClr val="C00000"/>
                </a:solidFill>
                <a:latin typeface="Elephant"/>
              </a:rPr>
              <a:t>HACKANOVATION 2.0</a:t>
            </a:r>
            <a:br>
              <a:rPr lang="en-GB" dirty="0"/>
            </a:br>
            <a:r>
              <a:rPr lang="en-GB" sz="5400" dirty="0">
                <a:solidFill>
                  <a:schemeClr val="bg1"/>
                </a:solidFill>
              </a:rPr>
              <a:t>PROBLEM STATEMENT: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D97512-A85A-BE3B-461B-A4E6AA578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269" y="3714749"/>
            <a:ext cx="5269315" cy="759584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2025" dirty="0">
                <a:solidFill>
                  <a:schemeClr val="bg1"/>
                </a:solidFill>
              </a:rPr>
              <a:t>AI BASED POST HARVEST LOSS REDUCTION AND CROP PLANNING INTELLIGENCE SYSTEM</a:t>
            </a:r>
          </a:p>
        </p:txBody>
      </p:sp>
    </p:spTree>
    <p:extLst>
      <p:ext uri="{BB962C8B-B14F-4D97-AF65-F5344CB8AC3E}">
        <p14:creationId xmlns:p14="http://schemas.microsoft.com/office/powerpoint/2010/main" val="1888171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6BFF-3340-BB8B-AB7D-249921DB9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79" y="274638"/>
            <a:ext cx="9509185" cy="158869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C00000"/>
                </a:solidFill>
                <a:latin typeface="Arial Rounded MT Bold"/>
              </a:rPr>
              <a:t>HACKANOVATION 2.0</a:t>
            </a:r>
            <a:br>
              <a:rPr lang="en-GB" dirty="0">
                <a:solidFill>
                  <a:srgbClr val="C00000"/>
                </a:solidFill>
                <a:latin typeface="Arial Rounded MT Bold"/>
              </a:rPr>
            </a:br>
            <a:r>
              <a:rPr lang="en-GB" dirty="0">
                <a:solidFill>
                  <a:srgbClr val="002060"/>
                </a:solidFill>
                <a:latin typeface="Bookman Old Style"/>
              </a:rPr>
              <a:t>OBJECTIVES</a:t>
            </a:r>
            <a:r>
              <a:rPr lang="en-GB" sz="5400" dirty="0">
                <a:solidFill>
                  <a:srgbClr val="002060"/>
                </a:solidFill>
              </a:rPr>
              <a:t>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6D60C-D31A-CA49-0C21-001539F41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17" y="1703138"/>
            <a:ext cx="10820941" cy="5140564"/>
          </a:xfr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725" indent="0">
              <a:buNone/>
            </a:pPr>
            <a:r>
              <a:rPr lang="en-GB" sz="2400" err="1">
                <a:solidFill>
                  <a:srgbClr val="002060"/>
                </a:solidFill>
                <a:latin typeface="Wingdings"/>
                <a:sym typeface="Wingdings"/>
              </a:rPr>
              <a:t>Ø</a:t>
            </a:r>
            <a:r>
              <a:rPr lang="en-GB" sz="2400" err="1">
                <a:solidFill>
                  <a:srgbClr val="002060"/>
                </a:solidFill>
                <a:latin typeface="Times New Roman"/>
                <a:cs typeface="Times New Roman"/>
              </a:rPr>
              <a:t>Predict</a:t>
            </a:r>
            <a:r>
              <a:rPr lang="en-GB" sz="2400" dirty="0">
                <a:solidFill>
                  <a:srgbClr val="002060"/>
                </a:solidFill>
                <a:latin typeface="Times New Roman"/>
                <a:cs typeface="Times New Roman"/>
              </a:rPr>
              <a:t> future market prices of crops to help farmers make better selling decisions. </a:t>
            </a:r>
            <a:r>
              <a:rPr lang="en-GB" sz="1000" dirty="0">
                <a:solidFill>
                  <a:srgbClr val="BFBFBF"/>
                </a:solidFill>
                <a:highlight>
                  <a:srgbClr val="1F1F1F"/>
                </a:highlight>
              </a:rPr>
              <a:t>✅</a:t>
            </a:r>
            <a:r>
              <a:rPr lang="en-GB" sz="2400" dirty="0">
                <a:solidFill>
                  <a:srgbClr val="002060"/>
                </a:solidFill>
                <a:latin typeface="Times New Roman"/>
                <a:cs typeface="Times New Roman"/>
              </a:rPr>
              <a:t> </a:t>
            </a:r>
            <a:endParaRPr lang="en-GB" sz="2400" dirty="0">
              <a:solidFill>
                <a:srgbClr val="002060"/>
              </a:solidFill>
            </a:endParaRPr>
          </a:p>
          <a:p>
            <a:pPr>
              <a:buFont typeface="Wingdings"/>
              <a:buChar char="Ø"/>
            </a:pPr>
            <a:r>
              <a:rPr lang="en-GB" sz="2400" dirty="0">
                <a:solidFill>
                  <a:srgbClr val="002060"/>
                </a:solidFill>
                <a:latin typeface="Times New Roman"/>
                <a:cs typeface="Times New Roman"/>
              </a:rPr>
              <a:t>Identify the most suitable soil type for cultivating a particular crop.</a:t>
            </a:r>
            <a:r>
              <a:rPr lang="en-GB" sz="1000" dirty="0">
                <a:solidFill>
                  <a:srgbClr val="BFBFBF"/>
                </a:solidFill>
                <a:highlight>
                  <a:srgbClr val="1F1F1F"/>
                </a:highlight>
              </a:rPr>
              <a:t>✅</a:t>
            </a:r>
          </a:p>
          <a:p>
            <a:pPr>
              <a:buFont typeface="Wingdings"/>
              <a:buChar char="Ø"/>
            </a:pPr>
            <a:r>
              <a:rPr lang="en-GB" sz="2400" err="1">
                <a:solidFill>
                  <a:srgbClr val="002060"/>
                </a:solidFill>
                <a:latin typeface="Times New Roman"/>
                <a:cs typeface="Times New Roman"/>
              </a:rPr>
              <a:t>Analyze</a:t>
            </a:r>
            <a:r>
              <a:rPr lang="en-GB" sz="2400" dirty="0">
                <a:solidFill>
                  <a:srgbClr val="002060"/>
                </a:solidFill>
                <a:latin typeface="Times New Roman"/>
                <a:cs typeface="Times New Roman"/>
              </a:rPr>
              <a:t> environmental factors such as </a:t>
            </a:r>
            <a:r>
              <a:rPr lang="en-GB" sz="2400" err="1">
                <a:solidFill>
                  <a:srgbClr val="002060"/>
                </a:solidFill>
                <a:latin typeface="Times New Roman"/>
                <a:cs typeface="Times New Roman"/>
              </a:rPr>
              <a:t>temprature</a:t>
            </a:r>
            <a:r>
              <a:rPr lang="en-GB" sz="2400" dirty="0">
                <a:solidFill>
                  <a:srgbClr val="002060"/>
                </a:solidFill>
                <a:latin typeface="Times New Roman"/>
                <a:cs typeface="Times New Roman"/>
              </a:rPr>
              <a:t> and rainfall to recommend optimal crop growth conditions.</a:t>
            </a:r>
            <a:r>
              <a:rPr lang="en-GB" sz="1000" dirty="0">
                <a:solidFill>
                  <a:srgbClr val="BFBFBF"/>
                </a:solidFill>
                <a:highlight>
                  <a:srgbClr val="1F1F1F"/>
                </a:highlight>
              </a:rPr>
              <a:t>✅</a:t>
            </a:r>
          </a:p>
          <a:p>
            <a:pPr>
              <a:buFont typeface="Wingdings"/>
              <a:buChar char="Ø"/>
            </a:pPr>
            <a:r>
              <a:rPr lang="en-GB" sz="2400" dirty="0">
                <a:solidFill>
                  <a:srgbClr val="002060"/>
                </a:solidFill>
                <a:latin typeface="Times New Roman"/>
                <a:cs typeface="Times New Roman"/>
              </a:rPr>
              <a:t>Provide data-driven insights to improve crop planning and profitability for farmers.</a:t>
            </a:r>
            <a:r>
              <a:rPr lang="en-GB" sz="1000" dirty="0">
                <a:solidFill>
                  <a:srgbClr val="BFBFBF"/>
                </a:solidFill>
                <a:highlight>
                  <a:srgbClr val="1F1F1F"/>
                </a:highlight>
              </a:rPr>
              <a:t>✅</a:t>
            </a:r>
            <a:endParaRPr lang="en-GB" sz="1000">
              <a:solidFill>
                <a:srgbClr val="002060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Ø"/>
            </a:pPr>
            <a:endParaRPr lang="en-GB" sz="2400" dirty="0">
              <a:solidFill>
                <a:srgbClr val="002060"/>
              </a:solidFill>
            </a:endParaRPr>
          </a:p>
          <a:p>
            <a:pPr>
              <a:buFont typeface="Wingdings"/>
              <a:buChar char="Ø"/>
            </a:pPr>
            <a:r>
              <a:rPr lang="en-GB" sz="2800" dirty="0">
                <a:solidFill>
                  <a:srgbClr val="002060"/>
                </a:solidFill>
                <a:latin typeface="Arial Rounded MT Bold"/>
              </a:rPr>
              <a:t>FUTURE SCOPE:</a:t>
            </a:r>
          </a:p>
          <a:p>
            <a:pPr>
              <a:buFont typeface="Wingdings"/>
              <a:buChar char="Ø"/>
            </a:pPr>
            <a:r>
              <a:rPr lang="en-GB" sz="2400" dirty="0">
                <a:solidFill>
                  <a:srgbClr val="002060"/>
                </a:solidFill>
              </a:rPr>
              <a:t>Multi-language support to make the platform accessible to farmers from different regions.</a:t>
            </a:r>
            <a:endParaRPr lang="en-GB" sz="2800" dirty="0">
              <a:solidFill>
                <a:srgbClr val="002060"/>
              </a:solidFill>
              <a:latin typeface="Arial Rounded MT Bold"/>
            </a:endParaRPr>
          </a:p>
          <a:p>
            <a:pPr>
              <a:buFont typeface="Wingdings"/>
              <a:buChar char="Ø"/>
            </a:pPr>
            <a:r>
              <a:rPr lang="en-GB" sz="2400" dirty="0">
                <a:solidFill>
                  <a:srgbClr val="002060"/>
                </a:solidFill>
              </a:rPr>
              <a:t>Incorporation of government policies, market demand, and supply chain data to improve price prediction accuracy.</a:t>
            </a:r>
          </a:p>
        </p:txBody>
      </p:sp>
      <p:sp>
        <p:nvSpPr>
          <p:cNvPr id="4" name="Half Frame 3">
            <a:extLst>
              <a:ext uri="{FF2B5EF4-FFF2-40B4-BE49-F238E27FC236}">
                <a16:creationId xmlns:a16="http://schemas.microsoft.com/office/drawing/2014/main" id="{7CA8BD03-F466-7649-D1DC-2D15A04BDB8E}"/>
              </a:ext>
            </a:extLst>
          </p:cNvPr>
          <p:cNvSpPr/>
          <p:nvPr/>
        </p:nvSpPr>
        <p:spPr>
          <a:xfrm>
            <a:off x="249456" y="274162"/>
            <a:ext cx="1068719" cy="5748971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4072A935-4332-2C9B-22E7-BDBFEC908930}"/>
              </a:ext>
            </a:extLst>
          </p:cNvPr>
          <p:cNvSpPr/>
          <p:nvPr/>
        </p:nvSpPr>
        <p:spPr>
          <a:xfrm flipH="1" flipV="1">
            <a:off x="10863941" y="781750"/>
            <a:ext cx="1087218" cy="576251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39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0313" y="2000250"/>
            <a:ext cx="3929063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1952627" y="2000252"/>
            <a:ext cx="4125515" cy="25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 Streamlined Forecasting App</a:t>
            </a:r>
            <a:endParaRPr sz="1050"/>
          </a:p>
        </p:txBody>
      </p:sp>
      <p:sp>
        <p:nvSpPr>
          <p:cNvPr id="106" name="Google Shape;106;p15"/>
          <p:cNvSpPr txBox="1"/>
          <p:nvPr/>
        </p:nvSpPr>
        <p:spPr>
          <a:xfrm>
            <a:off x="1952626" y="2357438"/>
            <a:ext cx="392906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CropCast is a web application designed to put predictive analytics directly into the hands of those who need it.</a:t>
            </a:r>
            <a:endParaRPr sz="1050"/>
          </a:p>
        </p:txBody>
      </p:sp>
      <p:sp>
        <p:nvSpPr>
          <p:cNvPr id="107" name="Google Shape;107;p15"/>
          <p:cNvSpPr txBox="1"/>
          <p:nvPr/>
        </p:nvSpPr>
        <p:spPr>
          <a:xfrm>
            <a:off x="2202658" y="2921794"/>
            <a:ext cx="36790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Built on Streamlit: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Ensuring a fast, responsive, and intuitive user interface.</a:t>
            </a:r>
            <a:endParaRPr sz="1050"/>
          </a:p>
        </p:txBody>
      </p:sp>
      <p:sp>
        <p:nvSpPr>
          <p:cNvPr id="108" name="Google Shape;108;p15"/>
          <p:cNvSpPr txBox="1"/>
          <p:nvPr/>
        </p:nvSpPr>
        <p:spPr>
          <a:xfrm>
            <a:off x="2202658" y="3521869"/>
            <a:ext cx="36790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Instant Predictions: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Real-time processing of future dates.</a:t>
            </a:r>
            <a:endParaRPr sz="1050"/>
          </a:p>
        </p:txBody>
      </p:sp>
      <p:sp>
        <p:nvSpPr>
          <p:cNvPr id="109" name="Google Shape;109;p15"/>
          <p:cNvSpPr txBox="1"/>
          <p:nvPr/>
        </p:nvSpPr>
        <p:spPr>
          <a:xfrm>
            <a:off x="2202658" y="4121944"/>
            <a:ext cx="36790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Actionable Outputs: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Provides a clear range (Min/Max) to help gauge market risk.</a:t>
            </a:r>
            <a:endParaRPr sz="1050"/>
          </a:p>
        </p:txBody>
      </p:sp>
      <p:sp>
        <p:nvSpPr>
          <p:cNvPr id="110" name="Google Shape;110;p15"/>
          <p:cNvSpPr txBox="1"/>
          <p:nvPr/>
        </p:nvSpPr>
        <p:spPr>
          <a:xfrm>
            <a:off x="2202658" y="4722019"/>
            <a:ext cx="36790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Accessible: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No coding or data science expertise required for the end user.</a:t>
            </a:r>
            <a:endParaRPr sz="1050"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7457" y="2007395"/>
            <a:ext cx="3914775" cy="284321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952625" y="1104901"/>
            <a:ext cx="870108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C00000"/>
                </a:solidFill>
                <a:latin typeface="Arial Rounded MT Bold" pitchFamily="34" charset="0"/>
                <a:ea typeface="Outfit"/>
                <a:cs typeface="Outfit"/>
                <a:sym typeface="Outfit"/>
              </a:rPr>
              <a:t>                          HACKANOVATION 2.0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Solution</a:t>
            </a:r>
            <a:endParaRPr sz="1050"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52626" y="2936083"/>
            <a:ext cx="142875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52626" y="3536158"/>
            <a:ext cx="142875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52626" y="4136233"/>
            <a:ext cx="142875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52626" y="4736308"/>
            <a:ext cx="142875" cy="150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52625" y="2000250"/>
            <a:ext cx="2619412" cy="2871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86350" y="2000250"/>
            <a:ext cx="2619412" cy="2871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75" y="2000250"/>
            <a:ext cx="2619412" cy="2871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74081" y="2257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2174082" y="3007520"/>
            <a:ext cx="1462682" cy="25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Kaggle Dataset</a:t>
            </a:r>
            <a:endParaRPr sz="1050"/>
          </a:p>
        </p:txBody>
      </p:sp>
      <p:sp>
        <p:nvSpPr>
          <p:cNvPr id="127" name="Google Shape;127;p16"/>
          <p:cNvSpPr txBox="1"/>
          <p:nvPr/>
        </p:nvSpPr>
        <p:spPr>
          <a:xfrm>
            <a:off x="2174083" y="3364707"/>
            <a:ext cx="217649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Our model is trained on a robust, publicly verified agricultural dataset sourced from Kaggle, ensuring high data integrity and consistency.</a:t>
            </a:r>
            <a:endParaRPr sz="1050"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07806" y="2257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007806" y="3007520"/>
            <a:ext cx="1702712" cy="25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Decade of History</a:t>
            </a:r>
            <a:endParaRPr sz="1050"/>
          </a:p>
        </p:txBody>
      </p:sp>
      <p:sp>
        <p:nvSpPr>
          <p:cNvPr id="130" name="Google Shape;130;p16"/>
          <p:cNvSpPr txBox="1"/>
          <p:nvPr/>
        </p:nvSpPr>
        <p:spPr>
          <a:xfrm>
            <a:off x="5007807" y="3364707"/>
            <a:ext cx="217649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dataset captures daily market movements from the year 2010 onwards, providing a massive volume of historical context.</a:t>
            </a:r>
            <a:endParaRPr sz="1050"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41531" y="2257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841531" y="3007520"/>
            <a:ext cx="1327666" cy="25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Core Features</a:t>
            </a:r>
            <a:endParaRPr sz="1050"/>
          </a:p>
        </p:txBody>
      </p:sp>
      <p:sp>
        <p:nvSpPr>
          <p:cNvPr id="133" name="Google Shape;133;p16"/>
          <p:cNvSpPr txBox="1"/>
          <p:nvPr/>
        </p:nvSpPr>
        <p:spPr>
          <a:xfrm>
            <a:off x="7841532" y="3364706"/>
            <a:ext cx="21764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isolate key variables: Crop Name, Date, Avg Min Price, and Avg Max Price to build highly targeted forecasting models.</a:t>
            </a:r>
            <a:endParaRPr sz="1050"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34817" y="2400300"/>
            <a:ext cx="250031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168542" y="2400300"/>
            <a:ext cx="250031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966547" y="2400300"/>
            <a:ext cx="32146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1952625" y="1285876"/>
            <a:ext cx="870108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C00000"/>
                </a:solidFill>
                <a:latin typeface="Arial Rounded MT Bold" pitchFamily="34" charset="0"/>
                <a:ea typeface="Outfit"/>
                <a:cs typeface="Outfit"/>
                <a:sym typeface="Outfit"/>
              </a:rPr>
              <a:t>HACKANOVATION 2.0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Data Foundation</a:t>
            </a:r>
            <a:endParaRPr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52626" y="2000251"/>
            <a:ext cx="3929063" cy="3236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0313" y="2000251"/>
            <a:ext cx="3929063" cy="323611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2245520" y="2293145"/>
            <a:ext cx="3510439" cy="25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10B98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1. User Inputs</a:t>
            </a:r>
            <a:endParaRPr sz="1050"/>
          </a:p>
        </p:txBody>
      </p:sp>
      <p:sp>
        <p:nvSpPr>
          <p:cNvPr id="146" name="Google Shape;146;p17"/>
          <p:cNvSpPr txBox="1"/>
          <p:nvPr/>
        </p:nvSpPr>
        <p:spPr>
          <a:xfrm>
            <a:off x="2245520" y="2650331"/>
            <a:ext cx="33432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interface requires only two simple inputs from the user, making it incredibly frictionless.</a:t>
            </a:r>
            <a:endParaRPr sz="1050"/>
          </a:p>
        </p:txBody>
      </p:sp>
      <p:sp>
        <p:nvSpPr>
          <p:cNvPr id="147" name="Google Shape;147;p17"/>
          <p:cNvSpPr txBox="1"/>
          <p:nvPr/>
        </p:nvSpPr>
        <p:spPr>
          <a:xfrm>
            <a:off x="2245520" y="3357563"/>
            <a:ext cx="3343275" cy="138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2981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Crop Name: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Select from a comprehensive dropdown of available agricultural commodities.</a:t>
            </a:r>
          </a:p>
          <a:p>
            <a:pPr>
              <a:lnSpc>
                <a:spcPct val="160000"/>
              </a:lnSpc>
            </a:pPr>
            <a:endParaRPr lang="en-US" sz="1125">
              <a:solidFill>
                <a:srgbClr val="94A3B8"/>
              </a:solidFill>
              <a:latin typeface="Inter"/>
              <a:ea typeface="Inter"/>
            </a:endParaRPr>
          </a:p>
          <a:p>
            <a:pPr>
              <a:lnSpc>
                <a:spcPct val="160000"/>
              </a:lnSpc>
            </a:pPr>
            <a:endParaRPr lang="en-US" sz="1125">
              <a:solidFill>
                <a:srgbClr val="94A3B8"/>
              </a:solidFill>
              <a:latin typeface="Inter"/>
              <a:ea typeface="Inter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2285766" y="4147300"/>
            <a:ext cx="330302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269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Target Date: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Choose the specific future date for which you need a price estimation.</a:t>
            </a:r>
            <a:endParaRPr sz="1050"/>
          </a:p>
        </p:txBody>
      </p:sp>
      <p:sp>
        <p:nvSpPr>
          <p:cNvPr id="149" name="Google Shape;149;p17"/>
          <p:cNvSpPr txBox="1"/>
          <p:nvPr/>
        </p:nvSpPr>
        <p:spPr>
          <a:xfrm>
            <a:off x="6603208" y="2293145"/>
            <a:ext cx="3510439" cy="25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10B98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2. App Outputs</a:t>
            </a:r>
            <a:endParaRPr sz="1050"/>
          </a:p>
        </p:txBody>
      </p:sp>
      <p:sp>
        <p:nvSpPr>
          <p:cNvPr id="150" name="Google Shape;150;p17"/>
          <p:cNvSpPr txBox="1"/>
          <p:nvPr/>
        </p:nvSpPr>
        <p:spPr>
          <a:xfrm>
            <a:off x="6603207" y="2650332"/>
            <a:ext cx="33432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backend processes the request through our trained Prophet model and returns a realistic price range.</a:t>
            </a:r>
            <a:endParaRPr sz="1050"/>
          </a:p>
        </p:txBody>
      </p:sp>
      <p:sp>
        <p:nvSpPr>
          <p:cNvPr id="151" name="Google Shape;151;p17"/>
          <p:cNvSpPr txBox="1"/>
          <p:nvPr/>
        </p:nvSpPr>
        <p:spPr>
          <a:xfrm>
            <a:off x="6313433" y="3240044"/>
            <a:ext cx="33432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Avg Min Price: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predicted lower bound of the market rate for the selected date.</a:t>
            </a:r>
            <a:endParaRPr sz="1050"/>
          </a:p>
        </p:txBody>
      </p:sp>
      <p:sp>
        <p:nvSpPr>
          <p:cNvPr id="152" name="Google Shape;152;p17"/>
          <p:cNvSpPr txBox="1"/>
          <p:nvPr/>
        </p:nvSpPr>
        <p:spPr>
          <a:xfrm>
            <a:off x="6603207" y="4150519"/>
            <a:ext cx="33432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5869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Avg Max Price: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predicted upper bound, allowing users to estimate maximum potential yield.</a:t>
            </a:r>
            <a:endParaRPr sz="1050"/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45520" y="3400426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45519" y="3964782"/>
            <a:ext cx="128588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03207" y="3629026"/>
            <a:ext cx="164306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03207" y="4193382"/>
            <a:ext cx="16430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1966912" y="1123951"/>
            <a:ext cx="870108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C00000"/>
                </a:solidFill>
                <a:latin typeface="Arial Rounded MT Bold" pitchFamily="34" charset="0"/>
                <a:ea typeface="Outfit"/>
                <a:cs typeface="Outfit"/>
                <a:sym typeface="Outfit"/>
              </a:rPr>
              <a:t>HACKANOVATION 2.0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How It Works</a:t>
            </a:r>
            <a:endParaRPr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184A-9A40-6AFC-8497-0BBE1BA06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8039"/>
            <a:ext cx="8229600" cy="1425677"/>
          </a:xfrm>
        </p:spPr>
        <p:txBody>
          <a:bodyPr>
            <a:normAutofit/>
          </a:bodyPr>
          <a:lstStyle/>
          <a:p>
            <a:r>
              <a:rPr lang="en-GB" sz="4050">
                <a:latin typeface="Franklin Gothic"/>
              </a:rPr>
              <a:t>INPUT: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0B19E-3295-C647-A5F1-0C4D09258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9918" y="862300"/>
            <a:ext cx="9154670" cy="5130457"/>
          </a:xfrm>
        </p:spPr>
        <p:txBody>
          <a:bodyPr/>
          <a:lstStyle/>
          <a:p>
            <a:pPr algn="ctr">
              <a:buNone/>
            </a:pPr>
            <a:endParaRPr lang="en-GB" dirty="0">
              <a:solidFill>
                <a:srgbClr val="C00000"/>
              </a:solidFill>
              <a:latin typeface="Arial Rounded MT Bold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28F505-9DBC-5E01-3B86-6A08F531B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2406"/>
            <a:ext cx="12192000" cy="600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67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6FD0-B572-73B7-8CC1-266827990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50" dirty="0">
                <a:solidFill>
                  <a:srgbClr val="FF0000"/>
                </a:solidFill>
                <a:latin typeface="Franklin Gothic"/>
              </a:rPr>
              <a:t>HACKNOVATION 2.0</a:t>
            </a:r>
            <a:br>
              <a:rPr lang="en-GB" sz="4050" dirty="0">
                <a:solidFill>
                  <a:srgbClr val="FF0000"/>
                </a:solidFill>
                <a:latin typeface="Franklin Gothic"/>
              </a:rPr>
            </a:br>
            <a:r>
              <a:rPr lang="en-GB" sz="4050" dirty="0">
                <a:latin typeface="Franklin Gothic"/>
              </a:rPr>
              <a:t>OUTPUT</a:t>
            </a:r>
            <a:r>
              <a:rPr lang="en-GB" dirty="0">
                <a:latin typeface="Franklin Gothic"/>
              </a:rPr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C8193-DBAD-3B1F-FFA4-3510C2DF1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6165" y="-9238"/>
            <a:ext cx="12179752" cy="6872522"/>
          </a:xfrm>
        </p:spPr>
        <p:txBody>
          <a:bodyPr/>
          <a:lstStyle/>
          <a:p>
            <a:pPr marL="85725" indent="0" algn="ctr">
              <a:buNone/>
            </a:pPr>
            <a:endParaRPr lang="en-GB" dirty="0">
              <a:solidFill>
                <a:srgbClr val="C00000"/>
              </a:solidFill>
              <a:latin typeface="Arial Rounded MT Bold" pitchFamily="34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8CE4C9-4100-5297-FFF6-9495E9D09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7762"/>
            <a:ext cx="12192000" cy="545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29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D3E19-FE24-ADEB-FDCD-93470AF39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  <a:latin typeface="Arial Rounded MT Bold" pitchFamily="34" charset="0"/>
                <a:ea typeface="Inter SemiBold"/>
              </a:rPr>
              <a:t>HACKANOVATION 2.0</a:t>
            </a:r>
            <a:br>
              <a:rPr lang="en-GB" dirty="0">
                <a:solidFill>
                  <a:srgbClr val="C00000"/>
                </a:solidFill>
                <a:latin typeface="Arial Rounded MT Bold" pitchFamily="34" charset="0"/>
                <a:ea typeface="Inter SemiBold"/>
              </a:rPr>
            </a:br>
            <a:r>
              <a:rPr lang="en-GB" dirty="0">
                <a:solidFill>
                  <a:srgbClr val="92D050"/>
                </a:solidFill>
                <a:latin typeface="Inter SemiBold"/>
                <a:ea typeface="Inter SemiBold"/>
              </a:rPr>
              <a:t>Powered by XG boost:</a:t>
            </a:r>
            <a:br>
              <a:rPr lang="en-GB" dirty="0">
                <a:solidFill>
                  <a:srgbClr val="92D050"/>
                </a:solidFill>
                <a:latin typeface="Inter SemiBold"/>
                <a:ea typeface="Inter SemiBold"/>
              </a:rPr>
            </a:br>
            <a:endParaRPr lang="en-GB" dirty="0">
              <a:solidFill>
                <a:srgbClr val="92D050"/>
              </a:solidFill>
              <a:latin typeface="Inter SemiBold"/>
              <a:ea typeface="Inter SemiBold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DB238-3FCE-5258-16C8-AB831C393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66901" y="1746585"/>
            <a:ext cx="8227595" cy="4427183"/>
          </a:xfrm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GB" sz="1500" dirty="0" err="1">
                <a:solidFill>
                  <a:schemeClr val="bg1"/>
                </a:solidFill>
                <a:latin typeface="Outfit"/>
              </a:rPr>
              <a:t>XGBoost</a:t>
            </a:r>
            <a:r>
              <a:rPr lang="en-GB" sz="1500" dirty="0">
                <a:solidFill>
                  <a:schemeClr val="bg1"/>
                </a:solidFill>
                <a:latin typeface="Outfit"/>
              </a:rPr>
              <a:t> (Extreme Gradient Boosting) is an advanced machine learning algorithm known for its high performance and accuracy in predictive </a:t>
            </a:r>
            <a:r>
              <a:rPr lang="en-GB" sz="1500" dirty="0" err="1">
                <a:solidFill>
                  <a:schemeClr val="bg1"/>
                </a:solidFill>
                <a:latin typeface="Outfit"/>
              </a:rPr>
              <a:t>modeling</a:t>
            </a:r>
            <a:r>
              <a:rPr lang="en-GB" sz="1500" dirty="0">
                <a:solidFill>
                  <a:schemeClr val="bg1"/>
                </a:solidFill>
                <a:latin typeface="Outfit"/>
              </a:rPr>
              <a:t>.</a:t>
            </a:r>
          </a:p>
          <a:p>
            <a:r>
              <a:rPr lang="en-GB" sz="1500" dirty="0">
                <a:solidFill>
                  <a:schemeClr val="bg1"/>
                </a:solidFill>
                <a:latin typeface="Outfit"/>
              </a:rPr>
              <a:t>It works by combining multiple decision trees to improve prediction accuracy and reduce errors.</a:t>
            </a:r>
          </a:p>
          <a:p>
            <a:r>
              <a:rPr lang="en-GB" sz="1500" dirty="0" err="1">
                <a:solidFill>
                  <a:schemeClr val="bg1"/>
                </a:solidFill>
                <a:latin typeface="Outfit"/>
              </a:rPr>
              <a:t>XGBoost</a:t>
            </a:r>
            <a:r>
              <a:rPr lang="en-GB" sz="1500" dirty="0">
                <a:solidFill>
                  <a:schemeClr val="bg1"/>
                </a:solidFill>
                <a:latin typeface="Outfit"/>
              </a:rPr>
              <a:t> captures:</a:t>
            </a:r>
          </a:p>
          <a:p>
            <a:r>
              <a:rPr lang="en-GB" sz="1500" dirty="0">
                <a:solidFill>
                  <a:schemeClr val="bg1"/>
                </a:solidFill>
                <a:latin typeface="Outfit"/>
              </a:rPr>
              <a:t>    •    Non-linear relationships in the data</a:t>
            </a:r>
          </a:p>
          <a:p>
            <a:r>
              <a:rPr lang="en-GB" sz="1500" dirty="0">
                <a:solidFill>
                  <a:schemeClr val="bg1"/>
                </a:solidFill>
                <a:latin typeface="Outfit"/>
              </a:rPr>
              <a:t>    •    Trends and seasonal patterns</a:t>
            </a:r>
          </a:p>
          <a:p>
            <a:r>
              <a:rPr lang="en-GB" sz="1500" dirty="0">
                <a:solidFill>
                  <a:schemeClr val="bg1"/>
                </a:solidFill>
                <a:latin typeface="Outfit"/>
              </a:rPr>
              <a:t>    •    Feature interactions between variables</a:t>
            </a:r>
          </a:p>
          <a:p>
            <a:r>
              <a:rPr lang="en-GB" sz="1500" dirty="0">
                <a:solidFill>
                  <a:schemeClr val="bg1"/>
                </a:solidFill>
                <a:latin typeface="Outfit"/>
              </a:rPr>
              <a:t>    •    Complex dependencies that traditional statistical models may miss</a:t>
            </a:r>
          </a:p>
          <a:p>
            <a:endParaRPr lang="en-GB" sz="1500" dirty="0">
              <a:solidFill>
                <a:schemeClr val="bg1"/>
              </a:solidFill>
              <a:latin typeface="Outfit"/>
            </a:endParaRPr>
          </a:p>
          <a:p>
            <a:r>
              <a:rPr lang="en-GB" sz="1500" dirty="0">
                <a:solidFill>
                  <a:schemeClr val="bg1"/>
                </a:solidFill>
                <a:latin typeface="Outfit"/>
              </a:rPr>
              <a:t>Model Concept (Simple Form):</a:t>
            </a:r>
          </a:p>
          <a:p>
            <a:r>
              <a:rPr lang="en-GB" sz="1500" dirty="0">
                <a:solidFill>
                  <a:srgbClr val="92D050"/>
                </a:solidFill>
                <a:latin typeface="Outfit"/>
              </a:rPr>
              <a:t>\hat{y} = \sum_{k=1}^{n} </a:t>
            </a:r>
            <a:r>
              <a:rPr lang="en-GB" sz="1500" dirty="0" err="1">
                <a:solidFill>
                  <a:srgbClr val="92D050"/>
                </a:solidFill>
                <a:latin typeface="Outfit"/>
              </a:rPr>
              <a:t>f_k</a:t>
            </a:r>
            <a:r>
              <a:rPr lang="en-GB" sz="1500" dirty="0">
                <a:solidFill>
                  <a:srgbClr val="92D050"/>
                </a:solidFill>
                <a:latin typeface="Outfit"/>
              </a:rPr>
              <a:t>(x)</a:t>
            </a:r>
          </a:p>
          <a:p>
            <a:r>
              <a:rPr lang="en-GB" sz="1500" dirty="0">
                <a:solidFill>
                  <a:schemeClr val="bg1"/>
                </a:solidFill>
                <a:latin typeface="Outfit"/>
              </a:rPr>
              <a:t>Where:</a:t>
            </a:r>
          </a:p>
          <a:p>
            <a:r>
              <a:rPr lang="en-GB" sz="1500" dirty="0">
                <a:solidFill>
                  <a:schemeClr val="bg1"/>
                </a:solidFill>
                <a:latin typeface="Outfit"/>
              </a:rPr>
              <a:t>    •    </a:t>
            </a:r>
            <a:r>
              <a:rPr lang="en-GB" sz="1500" dirty="0" err="1">
                <a:solidFill>
                  <a:schemeClr val="bg1"/>
                </a:solidFill>
                <a:latin typeface="Outfit"/>
              </a:rPr>
              <a:t>f_k</a:t>
            </a:r>
            <a:r>
              <a:rPr lang="en-GB" sz="1500" dirty="0">
                <a:solidFill>
                  <a:schemeClr val="bg1"/>
                </a:solidFill>
                <a:latin typeface="Outfit"/>
              </a:rPr>
              <a:t> = individual decision trees</a:t>
            </a:r>
          </a:p>
          <a:p>
            <a:r>
              <a:rPr lang="en-GB" sz="1500" dirty="0">
                <a:solidFill>
                  <a:schemeClr val="bg1"/>
                </a:solidFill>
                <a:latin typeface="Outfit"/>
              </a:rPr>
              <a:t>    •    x = input features</a:t>
            </a:r>
          </a:p>
          <a:p>
            <a:r>
              <a:rPr lang="en-GB" sz="1500" dirty="0">
                <a:solidFill>
                  <a:schemeClr val="bg1"/>
                </a:solidFill>
                <a:latin typeface="Outfit"/>
              </a:rPr>
              <a:t>    •    \hat{y} = predicted output</a:t>
            </a:r>
          </a:p>
        </p:txBody>
      </p:sp>
    </p:spTree>
    <p:extLst>
      <p:ext uri="{BB962C8B-B14F-4D97-AF65-F5344CB8AC3E}">
        <p14:creationId xmlns:p14="http://schemas.microsoft.com/office/powerpoint/2010/main" val="1468420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52625" y="1870658"/>
            <a:ext cx="8286750" cy="383117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1952625" y="5137472"/>
            <a:ext cx="8286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 representation of Prophet capturing historical volatility and charting future price trajectories based on learned seasonality.</a:t>
            </a:r>
            <a:endParaRPr sz="1050"/>
          </a:p>
        </p:txBody>
      </p:sp>
      <p:sp>
        <p:nvSpPr>
          <p:cNvPr id="178" name="Google Shape;178;p19"/>
          <p:cNvSpPr txBox="1"/>
          <p:nvPr/>
        </p:nvSpPr>
        <p:spPr>
          <a:xfrm>
            <a:off x="1952625" y="1156284"/>
            <a:ext cx="87010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Forecasting Trends</a:t>
            </a:r>
            <a:endParaRPr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1346066"/>
            <a:ext cx="9144000" cy="55241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66824-60C6-DF9B-F173-FFA68AC19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99" y="1339851"/>
            <a:ext cx="8408194" cy="558627"/>
          </a:xfrm>
        </p:spPr>
        <p:txBody>
          <a:bodyPr vert="horz" lIns="68580" tIns="34290" rIns="68580" bIns="3429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 ARCHITECTURE: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2171700"/>
            <a:ext cx="7315200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34582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52625" y="2000250"/>
            <a:ext cx="2619412" cy="2655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86350" y="2000250"/>
            <a:ext cx="2619412" cy="2655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75" y="2000250"/>
            <a:ext cx="2619412" cy="2655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2644" y="2150270"/>
            <a:ext cx="2319374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36369" y="2150270"/>
            <a:ext cx="2319374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70094" y="2150270"/>
            <a:ext cx="2319374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2909731" y="3579020"/>
            <a:ext cx="705088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 b="0" i="0" u="none" strike="noStrike" cap="none">
                <a:solidFill>
                  <a:srgbClr val="0EA5E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Streamlit</a:t>
            </a:r>
            <a:endParaRPr sz="1050"/>
          </a:p>
        </p:txBody>
      </p:sp>
      <p:sp>
        <p:nvSpPr>
          <p:cNvPr id="191" name="Google Shape;191;p20"/>
          <p:cNvSpPr txBox="1"/>
          <p:nvPr/>
        </p:nvSpPr>
        <p:spPr>
          <a:xfrm>
            <a:off x="2102644" y="3850483"/>
            <a:ext cx="2319374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Provides the rapid deployment framework for our interactive, user-facing web interface.</a:t>
            </a:r>
            <a:endParaRPr sz="1050"/>
          </a:p>
        </p:txBody>
      </p:sp>
      <p:sp>
        <p:nvSpPr>
          <p:cNvPr id="192" name="Google Shape;192;p20"/>
          <p:cNvSpPr txBox="1"/>
          <p:nvPr/>
        </p:nvSpPr>
        <p:spPr>
          <a:xfrm>
            <a:off x="5627192" y="3579020"/>
            <a:ext cx="937617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 b="0" i="0" u="none" strike="noStrike" cap="none">
                <a:solidFill>
                  <a:srgbClr val="10B98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Python Base</a:t>
            </a:r>
            <a:endParaRPr sz="1050"/>
          </a:p>
        </p:txBody>
      </p:sp>
      <p:sp>
        <p:nvSpPr>
          <p:cNvPr id="193" name="Google Shape;193;p20"/>
          <p:cNvSpPr txBox="1"/>
          <p:nvPr/>
        </p:nvSpPr>
        <p:spPr>
          <a:xfrm>
            <a:off x="4936369" y="3850483"/>
            <a:ext cx="2319374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core backend language handling data manipulation (Pandas) and bridging the UI to the model.</a:t>
            </a:r>
            <a:endParaRPr sz="1050"/>
          </a:p>
        </p:txBody>
      </p:sp>
      <p:sp>
        <p:nvSpPr>
          <p:cNvPr id="195" name="Google Shape;195;p20"/>
          <p:cNvSpPr txBox="1"/>
          <p:nvPr/>
        </p:nvSpPr>
        <p:spPr>
          <a:xfrm>
            <a:off x="7770094" y="3850483"/>
            <a:ext cx="2319374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time-series forecasting engine powering the complex predictive mathematics under the hood.</a:t>
            </a:r>
            <a:endParaRPr sz="1050"/>
          </a:p>
        </p:txBody>
      </p:sp>
      <p:pic>
        <p:nvPicPr>
          <p:cNvPr id="196" name="Google Shape;196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02644" y="2150270"/>
            <a:ext cx="2319374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36369" y="2150270"/>
            <a:ext cx="2319374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770094" y="2150270"/>
            <a:ext cx="2319374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1952625" y="1285876"/>
            <a:ext cx="870108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C00000"/>
                </a:solidFill>
                <a:latin typeface="Arial Rounded MT Bold" pitchFamily="34" charset="0"/>
                <a:ea typeface="Outfit"/>
                <a:cs typeface="Outfit"/>
                <a:sym typeface="Outfit"/>
              </a:rPr>
              <a:t>HACKANOVATION 2.0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Tech Stack</a:t>
            </a:r>
            <a:endParaRPr sz="1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17F63E-87A0-F783-1AEB-6902554F61A0}"/>
              </a:ext>
            </a:extLst>
          </p:cNvPr>
          <p:cNvSpPr txBox="1"/>
          <p:nvPr/>
        </p:nvSpPr>
        <p:spPr>
          <a:xfrm flipH="1">
            <a:off x="8430432" y="3458060"/>
            <a:ext cx="1588576" cy="4154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bg2">
                    <a:lumMod val="60000"/>
                    <a:lumOff val="40000"/>
                  </a:schemeClr>
                </a:solidFill>
              </a:rPr>
              <a:t>XG Boost</a:t>
            </a:r>
          </a:p>
          <a:p>
            <a:pPr algn="ctr"/>
            <a:endParaRPr lang="en-GB"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0BFDF6-3878-1C50-98B7-EA5C20E2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124075" y="1975759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3F496C-A7B9-DFF9-1F39-A7907D2A3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526" y="2332701"/>
            <a:ext cx="1971675" cy="1910443"/>
          </a:xfrm>
          <a:noFill/>
        </p:spPr>
        <p:txBody>
          <a:bodyPr vert="horz" lIns="68580" tIns="34290" rIns="68580" bIns="3429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75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CONCLUSION:</a:t>
            </a:r>
          </a:p>
        </p:txBody>
      </p:sp>
      <p:pic>
        <p:nvPicPr>
          <p:cNvPr id="4" name="Picture 3" descr="A blue and white text on a blue background&#10;&#10;AI-generated content may be incorrect.">
            <a:extLst>
              <a:ext uri="{FF2B5EF4-FFF2-40B4-BE49-F238E27FC236}">
                <a16:creationId xmlns:a16="http://schemas.microsoft.com/office/drawing/2014/main" id="{DBC66AE8-857B-A7EC-55A9-451C117D6F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17" t="18148" r="4167" b="8519"/>
          <a:stretch>
            <a:fillRect/>
          </a:stretch>
        </p:blipFill>
        <p:spPr>
          <a:xfrm>
            <a:off x="4687888" y="1753711"/>
            <a:ext cx="5752275" cy="33488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07076" y="1123952"/>
            <a:ext cx="39464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rgbClr val="C00000"/>
                </a:solidFill>
                <a:latin typeface="Arial Rounded MT Bold" pitchFamily="34" charset="0"/>
                <a:ea typeface="Outfit"/>
                <a:cs typeface="Outfit"/>
                <a:sym typeface="Outfit"/>
              </a:rPr>
              <a:t>HACKANOVATION 2.0</a:t>
            </a:r>
          </a:p>
        </p:txBody>
      </p:sp>
    </p:spTree>
    <p:extLst>
      <p:ext uri="{BB962C8B-B14F-4D97-AF65-F5344CB8AC3E}">
        <p14:creationId xmlns:p14="http://schemas.microsoft.com/office/powerpoint/2010/main" val="4040812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23963" y="-114239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2267" y="857251"/>
            <a:ext cx="6803135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261119" y="-40713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2" name="Picture 1" descr="A blue and white screen with white text&#10;&#10;AI-generated content may be incorrect.">
            <a:extLst>
              <a:ext uri="{FF2B5EF4-FFF2-40B4-BE49-F238E27FC236}">
                <a16:creationId xmlns:a16="http://schemas.microsoft.com/office/drawing/2014/main" id="{89858C24-B853-BD23-9611-A88781137F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2" t="17037" r="6250" b="7037"/>
          <a:stretch>
            <a:fillRect/>
          </a:stretch>
        </p:blipFill>
        <p:spPr>
          <a:xfrm>
            <a:off x="1866900" y="1398627"/>
            <a:ext cx="8458200" cy="406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20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/>
          <p:nvPr/>
        </p:nvSpPr>
        <p:spPr>
          <a:xfrm>
            <a:off x="1952625" y="2000251"/>
            <a:ext cx="8286750" cy="73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1952625" y="2737396"/>
            <a:ext cx="8286750" cy="73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1952625" y="3474541"/>
            <a:ext cx="8286750" cy="588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1952625" y="4063119"/>
            <a:ext cx="8286750" cy="588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1952625" y="2730252"/>
            <a:ext cx="8286750" cy="7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1952625" y="2730252"/>
            <a:ext cx="8286750" cy="7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1952625" y="3467397"/>
            <a:ext cx="8286750" cy="7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1952625" y="3467397"/>
            <a:ext cx="8286750" cy="7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1952625" y="4055976"/>
            <a:ext cx="8286750" cy="7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1952625" y="4055976"/>
            <a:ext cx="8286750" cy="7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1952625" y="4644554"/>
            <a:ext cx="8286750" cy="7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1952625" y="4644554"/>
            <a:ext cx="8286750" cy="7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52625" y="2186656"/>
            <a:ext cx="642938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2774158" y="2107406"/>
            <a:ext cx="7465219" cy="359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https://img.freepik.com/premium-photo/farmer-using-tablet-lush-green-field-showcasing-modern-agricultural-technology-sustainable-farming-practices_1317057-27747.jpg?w=360</a:t>
            </a:r>
            <a:endParaRPr sz="1050"/>
          </a:p>
        </p:txBody>
      </p:sp>
      <p:sp>
        <p:nvSpPr>
          <p:cNvPr id="247" name="Google Shape;247;p23"/>
          <p:cNvSpPr txBox="1"/>
          <p:nvPr/>
        </p:nvSpPr>
        <p:spPr>
          <a:xfrm>
            <a:off x="2774158" y="2440261"/>
            <a:ext cx="7465219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9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 sz="1050"/>
          </a:p>
        </p:txBody>
      </p:sp>
      <p:pic>
        <p:nvPicPr>
          <p:cNvPr id="248" name="Google Shape;24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52625" y="2923802"/>
            <a:ext cx="642938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2774158" y="2844551"/>
            <a:ext cx="7465219" cy="359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https://png.pngtree.com/thumb_back/fw800/background/20260110/pngtree-modern-dark-themed-data-analytics-dashboard-with-vibrant-accents-image_21052087.webp</a:t>
            </a:r>
            <a:endParaRPr sz="1050"/>
          </a:p>
        </p:txBody>
      </p:sp>
      <p:sp>
        <p:nvSpPr>
          <p:cNvPr id="250" name="Google Shape;250;p23"/>
          <p:cNvSpPr txBox="1"/>
          <p:nvPr/>
        </p:nvSpPr>
        <p:spPr>
          <a:xfrm>
            <a:off x="2774158" y="3177407"/>
            <a:ext cx="7465219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9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 sz="1050"/>
          </a:p>
        </p:txBody>
      </p:sp>
      <p:pic>
        <p:nvPicPr>
          <p:cNvPr id="251" name="Google Shape;25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52625" y="3586609"/>
            <a:ext cx="642938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2774158" y="3581698"/>
            <a:ext cx="7465219" cy="1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https://img.freepik.com/premium-vector/modern-dashboard-ui-design-with-charts-data-visualization_25444-827.jpg</a:t>
            </a:r>
            <a:endParaRPr sz="1050"/>
          </a:p>
        </p:txBody>
      </p:sp>
      <p:sp>
        <p:nvSpPr>
          <p:cNvPr id="253" name="Google Shape;253;p23"/>
          <p:cNvSpPr txBox="1"/>
          <p:nvPr/>
        </p:nvSpPr>
        <p:spPr>
          <a:xfrm>
            <a:off x="2774158" y="3765985"/>
            <a:ext cx="7465219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9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 sz="1050"/>
          </a:p>
        </p:txBody>
      </p:sp>
      <p:pic>
        <p:nvPicPr>
          <p:cNvPr id="254" name="Google Shape;25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52625" y="4175187"/>
            <a:ext cx="642938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2774158" y="4170276"/>
            <a:ext cx="7465219" cy="1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https://i.sstatic.net/Tc96Y.png</a:t>
            </a:r>
            <a:endParaRPr sz="1050"/>
          </a:p>
        </p:txBody>
      </p:sp>
      <p:sp>
        <p:nvSpPr>
          <p:cNvPr id="256" name="Google Shape;256;p23"/>
          <p:cNvSpPr txBox="1"/>
          <p:nvPr/>
        </p:nvSpPr>
        <p:spPr>
          <a:xfrm>
            <a:off x="2774158" y="4354563"/>
            <a:ext cx="7465219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9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stackoverflow.com</a:t>
            </a:r>
            <a:endParaRPr sz="1050"/>
          </a:p>
        </p:txBody>
      </p:sp>
      <p:pic>
        <p:nvPicPr>
          <p:cNvPr id="257" name="Google Shape;257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52625" y="4763764"/>
            <a:ext cx="642938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2774158" y="4758854"/>
            <a:ext cx="7465219" cy="1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https://codilime.com/img/ai-and-machine-learning-for-networks-time-series-forecasting-and-regression-1.png</a:t>
            </a:r>
            <a:endParaRPr sz="1050"/>
          </a:p>
        </p:txBody>
      </p:sp>
      <p:sp>
        <p:nvSpPr>
          <p:cNvPr id="259" name="Google Shape;259;p23"/>
          <p:cNvSpPr txBox="1"/>
          <p:nvPr/>
        </p:nvSpPr>
        <p:spPr>
          <a:xfrm>
            <a:off x="2774158" y="4943141"/>
            <a:ext cx="7465219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9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codilime.com</a:t>
            </a:r>
            <a:endParaRPr sz="1050"/>
          </a:p>
        </p:txBody>
      </p:sp>
      <p:sp>
        <p:nvSpPr>
          <p:cNvPr id="260" name="Google Shape;260;p23"/>
          <p:cNvSpPr txBox="1"/>
          <p:nvPr/>
        </p:nvSpPr>
        <p:spPr>
          <a:xfrm>
            <a:off x="1952625" y="1285876"/>
            <a:ext cx="87010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Image Sources</a:t>
            </a:r>
            <a:endParaRPr sz="10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23963" y="-114239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2267" y="857251"/>
            <a:ext cx="6803135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261119" y="-40713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2" name="Picture 1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985B313D-C14D-D5B4-9A80-FBFDDC70C2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32" b="3275"/>
          <a:stretch>
            <a:fillRect/>
          </a:stretch>
        </p:blipFill>
        <p:spPr>
          <a:xfrm>
            <a:off x="1866900" y="1200150"/>
            <a:ext cx="84582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72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519</Words>
  <Application>Microsoft Office PowerPoint</Application>
  <PresentationFormat>Widescreen</PresentationFormat>
  <Paragraphs>82</Paragraphs>
  <Slides>17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                                           HACKANOVATION 2.0               GANDHI INSTITUTE OF ENGINEERING AND                                               TECHNOLOGY UNIVERSITY          Team Name:TENSOR                                   Pid: PS-HK16 AI-Based Post-Harvest Loss Reduction &amp;Crop Planning Intelligence System                                          Team Members:                                              Ishan Mishra(25CSE005)                                                                     Deepak Kumar Mishra(25CSE164)                                                                     Abhishek Sadangi(25CSE00S6)                                                                     Sriya Dash(25CSEAIML334)                                                                                                                                                                                           </vt:lpstr>
      <vt:lpstr>            HACKANOVATION 2.0 PROBLEM STATEMENT:</vt:lpstr>
      <vt:lpstr>HACKANOVATION 2.0 OBJECTIVES:</vt:lpstr>
      <vt:lpstr>PowerPoint Presentation</vt:lpstr>
      <vt:lpstr>PowerPoint Presentation</vt:lpstr>
      <vt:lpstr>PowerPoint Presentation</vt:lpstr>
      <vt:lpstr>INPUT:</vt:lpstr>
      <vt:lpstr>HACKNOVATION 2.0 OUTPUT:</vt:lpstr>
      <vt:lpstr>HACKANOVATION 2.0 Powered by XG boost: </vt:lpstr>
      <vt:lpstr>PowerPoint Presentation</vt:lpstr>
      <vt:lpstr>MODEL ARCHITECTURE:</vt:lpstr>
      <vt:lpstr>PowerPoint Presentation</vt:lpstr>
      <vt:lpstr>CONCLUSION: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Niranjana Dash</dc:creator>
  <cp:lastModifiedBy>Niranjana Dash</cp:lastModifiedBy>
  <cp:revision>152</cp:revision>
  <dcterms:modified xsi:type="dcterms:W3CDTF">2026-02-22T09:11:38Z</dcterms:modified>
</cp:coreProperties>
</file>